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Ollama 推論架構深入解析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00D2FF"/>
                </a:solidFill>
                <a:latin typeface="Calibri"/>
              </a:defRPr>
            </a:pPr>
            <a:r>
              <a:t>Prefill, Decode &amp; KV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931920"/>
            <a:ext cx="39319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Technical Deep Dive  |  假設聽眾有 ML 基礎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Transformer 推論兩階段概覽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03520" cy="548640"/>
          </a:xfrm>
          <a:prstGeom prst="roundRect">
            <a:avLst/>
          </a:prstGeom>
          <a:solidFill>
            <a:srgbClr val="0F3D5F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000" b="1">
                <a:solidFill>
                  <a:srgbClr val="00D2FF"/>
                </a:solidFill>
              </a:defRPr>
            </a:pPr>
            <a:r>
              <a:t>Prefill（填充階段）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Prompt tokens 全部一次輸入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平行計算 Attention（compute-bound）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填充 KV Cache — 記住 context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不生成任何 token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548640"/>
          </a:xfrm>
          <a:prstGeom prst="roundRect">
            <a:avLst/>
          </a:prstGeom>
          <a:solidFill>
            <a:srgbClr val="3D0F2F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Decode（生成階段）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一次生成一個 token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自迴歸（autoregressive）序列生成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每次查詢 KV Cache（memory-bound）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直到 EOS 或 max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846320"/>
            <a:ext cx="7589520" cy="822960"/>
          </a:xfrm>
          <a:prstGeom prst="roundRect">
            <a:avLst/>
          </a:prstGeom>
          <a:solidFill>
            <a:srgbClr val="2A2A40"/>
          </a:solidFill>
          <a:ln w="25400">
            <a:solidFill>
              <a:srgbClr val="FFE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800" b="1">
                <a:solidFill>
                  <a:srgbClr val="FFE66D"/>
                </a:solidFill>
              </a:defRPr>
            </a:pPr>
            <a:r>
              <a:t>類比：Prefill = 讀懂題目（平行閱讀）  →  Decode = 逐字寫答案（序列輸出）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2560320"/>
            <a:ext cx="82296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800" b="1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Ollama 四層架構圖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68880" y="1463040"/>
            <a:ext cx="7315200" cy="8229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000" b="1">
                <a:solidFill>
                  <a:srgbClr val="00D2FF"/>
                </a:solidFill>
              </a:defRPr>
            </a:pPr>
            <a:r>
              <a:t>HTTP API Server (Go)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46304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t>routes.go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2286000"/>
            <a:ext cx="822960" cy="228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514600"/>
            <a:ext cx="7315200" cy="8229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7B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000" b="1">
                <a:solidFill>
                  <a:srgbClr val="7BBFFF"/>
                </a:solidFill>
              </a:defRPr>
            </a:pPr>
            <a:r>
              <a:t>LLM Interface (Go)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51460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t>server.go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337560"/>
            <a:ext cx="822960" cy="228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3566160"/>
            <a:ext cx="7315200" cy="8229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BF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000" b="1">
                <a:solidFill>
                  <a:srgbClr val="6BFF6B"/>
                </a:solidFill>
              </a:defRPr>
            </a:pPr>
            <a:r>
              <a:t>Runner Process (Go+cgo)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356616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t>runner.go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4389120"/>
            <a:ext cx="822960" cy="228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4617720"/>
            <a:ext cx="7315200" cy="8229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000" b="1">
                <a:solidFill>
                  <a:srgbClr val="FF6B6B"/>
                </a:solidFill>
              </a:defRPr>
            </a:pPr>
            <a:r>
              <a:t>llama.cpp (C++)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461772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t>llama.go / llama.cpp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每一層透過函式呼叫或 cgo 橋接到下一層；最底層是 llama.cpp 的 C++ 推論引擎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Batch Processing 核心邏輯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runner.go — processBatch()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每輪迴圈把所有 sequence 的待處理 tokens 累積進同一個 batch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一次呼叫 Decode(batch) 送進 llama.cpp 做 forward pass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Prefill 階段：整段 prompt 分批送入（受 batch size 限制）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0972800" cy="36576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// runner.go — processBatch() 核心迴圈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586C0"/>
                </a:solidFill>
                <a:latin typeface="Courier New"/>
              </a:defRPr>
            </a:pPr>
            <a:r>
              <a:t>for i, seq := range s.seqs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586C0"/>
                </a:solidFill>
                <a:latin typeface="Courier New"/>
              </a:defRPr>
            </a:pPr>
            <a:r>
              <a:t>    if seq == nil { continue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586C0"/>
                </a:solidFill>
                <a:latin typeface="Courier New"/>
              </a:defRPr>
            </a:pPr>
            <a:r>
              <a:t>    for j, inp := range seq.inputs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586C0"/>
                </a:solidFill>
                <a:latin typeface="Courier New"/>
              </a:defRPr>
            </a:pPr>
            <a:r>
              <a:t>        if batch.NumTokens() &gt;= s.batchSize { break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        // 加入 batch：token, embedding, position, seqID, 是否要 logits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    batch.Add(inp.token, inp.embed, seq.numPast,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              []int{i}, j == crossCount-1)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    seq.numPast++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seq.inputs = seq.inputs[crossCount:]  // 移除已加入的 tokens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// 一次送入 llama.cpp 做 forward pass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err := s.lc.Decode(batch)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Prefill vs Decode 的關鍵分界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runner.go — 判斷是否進入 sampling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27432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6A9955"/>
                </a:solidFill>
                <a:latin typeface="Courier New"/>
              </a:defRPr>
            </a:pPr>
            <a:r>
              <a:t>// runner.go:440-448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586C0"/>
                </a:solidFill>
                <a:latin typeface="Courier New"/>
              </a:defRPr>
            </a:pPr>
            <a:r>
              <a:t>for i, seq := range s.seqs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586C0"/>
                </a:solidFill>
                <a:latin typeface="Courier New"/>
              </a:defRPr>
            </a:pPr>
            <a:r>
              <a:t>    if seq == nil { continue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E6E6E6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6A9955"/>
                </a:solidFill>
                <a:latin typeface="Courier New"/>
              </a:defRPr>
            </a:pPr>
            <a:r>
              <a:t>    // ★ 關鍵判斷：還有未處理的 inputs → 仍在 prefill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586C0"/>
                </a:solidFill>
                <a:latin typeface="Courier New"/>
              </a:defRPr>
            </a:pPr>
            <a:r>
              <a:t>    if len(seq.inputs) != 0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586C0"/>
                </a:solidFill>
                <a:latin typeface="Courier New"/>
              </a:defRPr>
            </a:pPr>
            <a:r>
              <a:t>        continue  // 跳過 sampling，繼續 prefill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E6E6E6"/>
                </a:solidFill>
                <a:latin typeface="Courier New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E6E6E6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6A9955"/>
                </a:solidFill>
                <a:latin typeface="Courier New"/>
              </a:defRPr>
            </a:pPr>
            <a:r>
              <a:t>    // seq.inputs 已清空 → 進入 decode → 開始 sampling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6A9955"/>
                </a:solidFill>
                <a:latin typeface="Courier New"/>
              </a:defRPr>
            </a:pPr>
            <a:r>
              <a:t>    // ... sampling logic below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E6E6E6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5120640" cy="914400"/>
          </a:xfrm>
          <a:prstGeom prst="roundRect">
            <a:avLst/>
          </a:prstGeom>
          <a:solidFill>
            <a:srgbClr val="0F3D5F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seq.inputs 還有東西</a:t>
            </a:r>
            <a:br/>
            <a:r>
              <a:t>→ 還在 Prefill → 不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389120"/>
            <a:ext cx="5120640" cy="914400"/>
          </a:xfrm>
          <a:prstGeom prst="roundRect">
            <a:avLst/>
          </a:prstGeom>
          <a:solidFill>
            <a:srgbClr val="3D0F2F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FF6B6B"/>
                </a:solidFill>
              </a:defRPr>
            </a:pPr>
            <a:r>
              <a:t>seq.inputs 清空</a:t>
            </a:r>
            <a:br/>
            <a:r>
              <a:t>→ 進入 Decode → 開始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E66D"/>
                </a:solidFill>
                <a:latin typeface="Calibri"/>
              </a:defRPr>
            </a:pPr>
            <a:r>
              <a:t>沒有顯式的 mode flag — 單純用「seq.inputs 是否為空」來切換 prefill/decode 行為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Token Generation 流程（Decode Loop）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runner.go — 自迴歸生成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858000" cy="32918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// runner.go:450-486 — Decode sampling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token := seq.samplingCtx.Sample(s.lc, seq.iBatch)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// 檢查停止條件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586C0"/>
                </a:solidFill>
                <a:latin typeface="Courier New"/>
              </a:defRPr>
            </a:pPr>
            <a:r>
              <a:t>if s.model.IsEOG(token) || seq.numPredict &gt;= seq.predictLen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seq.responses &lt;- ""  // signal done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s.removeSequence(i)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586C0"/>
                </a:solidFill>
                <a:latin typeface="Courier New"/>
              </a:defRPr>
            </a:pPr>
            <a:r>
              <a:t>    continue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// ★ 自迴歸：把生成的 token 塞回 inputs，下一輪會被加進 batch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seq.inputs = []input{{token: token}}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seq.numPredict++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65760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① Decode(batch)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377440"/>
            <a:ext cx="365760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BF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6BFF6B"/>
                </a:solidFill>
              </a:defRPr>
            </a:pPr>
            <a:r>
              <a:t>② Sample →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291840"/>
            <a:ext cx="365760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E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FFE66D"/>
                </a:solidFill>
              </a:defRPr>
            </a:pPr>
            <a:r>
              <a:t>③ token → seq.inputs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206240"/>
            <a:ext cx="365760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FF6B6B"/>
                </a:solidFill>
              </a:defRPr>
            </a:pPr>
            <a:r>
              <a:t>④ 回到 ① 下一輪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02920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↻ 自迴歸循環，直到 EOS 或達到 max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KV Cache 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每個 Cache Slot 存儲一段對話的 Key/Value 向量，供 Decode 階段查詢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201168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Slot 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148840"/>
            <a:ext cx="27432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82720" y="2148840"/>
            <a:ext cx="27432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07840" y="2148840"/>
            <a:ext cx="27432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32960" y="2148840"/>
            <a:ext cx="27432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8080" y="2148840"/>
            <a:ext cx="27432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83200" y="2148840"/>
            <a:ext cx="27432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1200" y="201168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對話 A — 150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926080"/>
            <a:ext cx="201168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7BB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7BBFFF"/>
                </a:solidFill>
              </a:defRPr>
            </a:pPr>
            <a:r>
              <a:t>Slot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063240"/>
            <a:ext cx="274320" cy="365760"/>
          </a:xfrm>
          <a:prstGeom prst="rect">
            <a:avLst/>
          </a:prstGeom>
          <a:solidFill>
            <a:srgbClr val="7B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82720" y="3063240"/>
            <a:ext cx="274320" cy="365760"/>
          </a:xfrm>
          <a:prstGeom prst="rect">
            <a:avLst/>
          </a:prstGeom>
          <a:solidFill>
            <a:srgbClr val="7B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7840" y="3063240"/>
            <a:ext cx="274320" cy="365760"/>
          </a:xfrm>
          <a:prstGeom prst="rect">
            <a:avLst/>
          </a:prstGeom>
          <a:solidFill>
            <a:srgbClr val="7B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32960" y="3063240"/>
            <a:ext cx="274320" cy="365760"/>
          </a:xfrm>
          <a:prstGeom prst="rect">
            <a:avLst/>
          </a:prstGeom>
          <a:solidFill>
            <a:srgbClr val="7B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8080" y="3063240"/>
            <a:ext cx="274320" cy="365760"/>
          </a:xfrm>
          <a:prstGeom prst="rect">
            <a:avLst/>
          </a:prstGeom>
          <a:solidFill>
            <a:srgbClr val="7B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83200" y="3063240"/>
            <a:ext cx="274320" cy="365760"/>
          </a:xfrm>
          <a:prstGeom prst="rect">
            <a:avLst/>
          </a:prstGeom>
          <a:solidFill>
            <a:srgbClr val="7B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08320" y="3063240"/>
            <a:ext cx="274320" cy="365760"/>
          </a:xfrm>
          <a:prstGeom prst="rect">
            <a:avLst/>
          </a:prstGeom>
          <a:solidFill>
            <a:srgbClr val="7B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33440" y="3063240"/>
            <a:ext cx="274320" cy="365760"/>
          </a:xfrm>
          <a:prstGeom prst="rect">
            <a:avLst/>
          </a:prstGeom>
          <a:solidFill>
            <a:srgbClr val="7B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8560" y="3063240"/>
            <a:ext cx="274320" cy="365760"/>
          </a:xfrm>
          <a:prstGeom prst="rect">
            <a:avLst/>
          </a:prstGeom>
          <a:solidFill>
            <a:srgbClr val="7B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92608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對話 B — 230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3840480"/>
            <a:ext cx="201168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BF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6BFF6B"/>
                </a:solidFill>
              </a:defRPr>
            </a:pPr>
            <a:r>
              <a:t>Slot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5600" y="384048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空閒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754880"/>
            <a:ext cx="201168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FF6B6B"/>
                </a:solidFill>
              </a:defRPr>
            </a:pPr>
            <a:r>
              <a:t>Slot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4892040"/>
            <a:ext cx="27432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82720" y="4892040"/>
            <a:ext cx="27432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7840" y="4892040"/>
            <a:ext cx="27432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5840" y="475488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對話 C — 80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86400"/>
            <a:ext cx="10972800" cy="822960"/>
          </a:xfrm>
          <a:prstGeom prst="roundRect">
            <a:avLst/>
          </a:prstGeom>
          <a:solidFill>
            <a:srgbClr val="2A2A40"/>
          </a:solidFill>
          <a:ln w="25400">
            <a:solidFill>
              <a:srgbClr val="FFE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FFE66D"/>
                </a:solidFill>
              </a:defRPr>
            </a:pPr>
            <a:r>
              <a:t>Prefix Matching：新 prompt 與已有 cache 比對前綴，若匹配可直接復用，跳過已計算的 prefill 部分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Cache Slot 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Single-user vs Multi-user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548640"/>
          </a:xfrm>
          <a:prstGeom prst="roundRect">
            <a:avLst/>
          </a:prstGeom>
          <a:solidFill>
            <a:srgbClr val="0F3D5F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Single-user：findLongestCacheSlot()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遍歷所有 cache slots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比對新 prompt 與 slot 中已有 tokens 的前綴長度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選最長 prefix match 的 slot → 最大化 cache 復用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適合 CLI / 單人使用場景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548640"/>
          </a:xfrm>
          <a:prstGeom prst="roundRect">
            <a:avLst/>
          </a:prstGeom>
          <a:solidFill>
            <a:srgbClr val="3D0F2F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800" b="1">
                <a:solidFill>
                  <a:srgbClr val="FF6B6B"/>
                </a:solidFill>
              </a:defRPr>
            </a:pPr>
            <a:r>
              <a:t>Multi-user：findBestCacheSlot()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同樣找最長 prefix match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如果 slot 正在被其他 sequence 使用 → Cache Forking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KvCacheSeqCp(src, dst, 0, longest)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複製共用前綴到新 slot，各自獨立繼續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0972800" cy="16459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// cache.go — findBestCacheSlot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586C0"/>
                </a:solidFill>
                <a:latin typeface="Courier New"/>
              </a:defRPr>
            </a:pPr>
            <a:r>
              <a:t>if longest &gt; 0 &amp;&amp; slot.inUse()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    // Fork: 複製已有的 KV cache 到新 slot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s.cache.KvCacheSeqCp(bestSlot.id, slot.id, 0, longest)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slot.numPast = longest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Cache Forking 圖解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320040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User A 的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7592" y="228600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00784" y="228600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93976" y="228600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87168" y="228600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228600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3552" y="228600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66744" y="228600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BFF6B"/>
                </a:solidFill>
                <a:latin typeface="Calibri"/>
              </a:defRPr>
            </a:pPr>
            <a:r>
              <a:t>共用前綴 (prefix)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9936" y="2286000"/>
            <a:ext cx="34747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2286000"/>
            <a:ext cx="34747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2286000"/>
            <a:ext cx="34747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39512" y="2286000"/>
            <a:ext cx="34747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860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← User A 獨有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918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E66D"/>
                </a:solidFill>
                <a:latin typeface="Calibri"/>
              </a:defRPr>
            </a:pPr>
            <a:r>
              <a:t>⤵ Fork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23360"/>
            <a:ext cx="320040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FF6B6B"/>
                </a:solidFill>
              </a:defRPr>
            </a:pPr>
            <a:r>
              <a:t>User B 的 Cache (forked)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4632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7592" y="484632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00784" y="484632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3976" y="484632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87168" y="484632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484632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3552" y="484632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66744" y="4846320"/>
            <a:ext cx="347472" cy="457200"/>
          </a:xfrm>
          <a:prstGeom prst="rect">
            <a:avLst/>
          </a:prstGeom>
          <a:solidFill>
            <a:srgbClr val="6BF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BFF6B"/>
                </a:solidFill>
                <a:latin typeface="Calibri"/>
              </a:defRPr>
            </a:pPr>
            <a:r>
              <a:t>複製的前綴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9936" y="4846320"/>
            <a:ext cx="347472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53128" y="4846320"/>
            <a:ext cx="347472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4846320"/>
            <a:ext cx="347472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84632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Calibri"/>
              </a:defRPr>
            </a:pPr>
            <a:r>
              <a:t>← User B 獨有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828800"/>
            <a:ext cx="5029200" cy="20116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// cache.go:170-179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s.cache.KvCacheSeqCp(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bestSlot.id,  // src: User 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slot.id,      // dst: User 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0,            // start pos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longest,      // end pos (prefix length)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共用系統 prompt 或相似開頭的請求時，</a:t>
            </a:r>
            <a:br/>
            <a:r>
              <a:t>Cache Forking 避免重複 prefill 計算，</a:t>
            </a:r>
            <a:br/>
            <a:r>
              <a:t>大幅提升多用戶場景的吞吐量。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Context Window 溢出處理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當 numPast + inputs &gt; numCtx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問題：對話太長，KV Cache 超過 context window 大小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策略：保留開頭 numKeep tokens + 最近的 tokens，丟棄中間部分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使用 KvCacheSeqAdd() 位移剩餘 tokens 的 position 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溢出前：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743200"/>
            <a:ext cx="1280160" cy="64008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System</a:t>
            </a:r>
            <a:br/>
            <a:r>
              <a:t>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4260" y="2743200"/>
            <a:ext cx="2560320" cy="640080"/>
          </a:xfrm>
          <a:prstGeom prst="roundRect">
            <a:avLst/>
          </a:prstGeom>
          <a:solidFill>
            <a:srgbClr val="66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早期對話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680" y="2743200"/>
            <a:ext cx="2560320" cy="640080"/>
          </a:xfrm>
          <a:prstGeom prst="roundRect">
            <a:avLst/>
          </a:prstGeom>
          <a:solidFill>
            <a:srgbClr val="66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中間對話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01100" y="2743200"/>
            <a:ext cx="1920240" cy="6400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最近對話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661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E66D"/>
                </a:solidFill>
                <a:latin typeface="Calibri"/>
              </a:defRPr>
            </a:pPr>
            <a:r>
              <a:t>▼  ShiftCacheSlot()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溢出後：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114800"/>
            <a:ext cx="1280160" cy="64008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System</a:t>
            </a:r>
            <a:br/>
            <a:r>
              <a:t>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4260" y="4114800"/>
            <a:ext cx="2560320" cy="640080"/>
          </a:xfrm>
          <a:prstGeom prst="round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丟棄 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680" y="4114800"/>
            <a:ext cx="1920240" cy="6400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最近對話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0972800" cy="16459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urier New"/>
              </a:defRPr>
            </a:pPr>
            <a:r>
              <a:t>// runner.go — ShiftCacheSlot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586C0"/>
                </a:solidFill>
                <a:latin typeface="Courier New"/>
              </a:defRPr>
            </a:pPr>
            <a:r>
              <a:t>if seq.numPast + len(seq.inputs) &gt; s.numCtx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keep := s.numKeep         // 保留 system prompt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discard := (seq.numPast - keep) / 2  // 丟棄前半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s.lc.KvCacheSeqRm(slot, keep, keep+discard)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s.lc.KvCacheSeqAdd(slot, keep+discard, seq.numPast, -discard)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    seq.numPast -= discard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6E6E6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Metrics 分離 — Prefill vs Decode 效能指標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926080" cy="54864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指標名稱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463040"/>
            <a:ext cx="3017520" cy="54864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意義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463040"/>
            <a:ext cx="2560320" cy="54864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對應階段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1463040"/>
            <a:ext cx="2011680" cy="54864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典型值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926080" cy="502920"/>
          </a:xfrm>
          <a:prstGeom prst="roundRect">
            <a:avLst/>
          </a:prstGeom>
          <a:solidFill>
            <a:srgbClr val="1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PromptEvalCount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3017520" cy="502920"/>
          </a:xfrm>
          <a:prstGeom prst="roundRect">
            <a:avLst/>
          </a:prstGeom>
          <a:solidFill>
            <a:srgbClr val="1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Prefill 處理的 token 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2560320" cy="502920"/>
          </a:xfrm>
          <a:prstGeom prst="roundRect">
            <a:avLst/>
          </a:prstGeom>
          <a:solidFill>
            <a:srgbClr val="1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00D2FF"/>
                </a:solidFill>
              </a:defRPr>
            </a:pPr>
            <a:r>
              <a:t>Prefill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103120"/>
            <a:ext cx="2011680" cy="502920"/>
          </a:xfrm>
          <a:prstGeom prst="roundRect">
            <a:avLst/>
          </a:prstGeom>
          <a:solidFill>
            <a:srgbClr val="1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00D2FF"/>
                </a:solidFill>
              </a:defRPr>
            </a:pPr>
            <a:r>
              <a:t>128-4096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29260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PromptEvalDuration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697480"/>
            <a:ext cx="301752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Prefill 耗時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697480"/>
            <a:ext cx="256032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00D2FF"/>
                </a:solidFill>
              </a:defRPr>
            </a:pPr>
            <a:r>
              <a:t>Prefill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697480"/>
            <a:ext cx="20116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00D2FF"/>
                </a:solidFill>
              </a:defRPr>
            </a:pPr>
            <a:r>
              <a:t>50-500ms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2926080" cy="502920"/>
          </a:xfrm>
          <a:prstGeom prst="roundRect">
            <a:avLst/>
          </a:prstGeom>
          <a:solidFill>
            <a:srgbClr val="1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EvalCount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291840"/>
            <a:ext cx="3017520" cy="502920"/>
          </a:xfrm>
          <a:prstGeom prst="roundRect">
            <a:avLst/>
          </a:prstGeom>
          <a:solidFill>
            <a:srgbClr val="1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生成的 token 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291840"/>
            <a:ext cx="2560320" cy="502920"/>
          </a:xfrm>
          <a:prstGeom prst="roundRect">
            <a:avLst/>
          </a:prstGeom>
          <a:solidFill>
            <a:srgbClr val="1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6B6B"/>
                </a:solidFill>
              </a:defRPr>
            </a:pPr>
            <a:r>
              <a:t>Decode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291840"/>
            <a:ext cx="2011680" cy="502920"/>
          </a:xfrm>
          <a:prstGeom prst="roundRect">
            <a:avLst/>
          </a:prstGeom>
          <a:solidFill>
            <a:srgbClr val="1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6B6B"/>
                </a:solidFill>
              </a:defRPr>
            </a:pPr>
            <a:r>
              <a:t>1-2048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29260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EvalDuration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886200"/>
            <a:ext cx="301752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Decode 耗時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886200"/>
            <a:ext cx="256032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6B6B"/>
                </a:solidFill>
              </a:defRPr>
            </a:pPr>
            <a:r>
              <a:t>Decode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886200"/>
            <a:ext cx="20116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6B6B"/>
                </a:solidFill>
              </a:defRPr>
            </a:pPr>
            <a:r>
              <a:t>1-60s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效能計算公式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274320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00D2FF"/>
                </a:solidFill>
              </a:defRPr>
            </a:pPr>
            <a:r>
              <a:t>Prefill 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93776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= PromptEvalCount / PromptEvalDuration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3776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tokens/sec — compute-bound, 可平行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60720"/>
            <a:ext cx="274320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500" b="1">
                <a:solidFill>
                  <a:srgbClr val="FF6B6B"/>
                </a:solidFill>
              </a:defRPr>
            </a:pPr>
            <a:r>
              <a:t>Decode Speed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76072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= EvalCount / EvalDuration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76072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tokens/sec — memory-bound, 序列瓶頸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Prefill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批次處理所有 prompt tokens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不 sample — 只填充 KV Cache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Compute-bound → GPU 利用率高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7472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6B6B"/>
                </a:solidFill>
              </a:defRPr>
            </a:pPr>
            <a:r>
              <a:t>Decode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自迴歸，一次生成一個 token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Sample from logits → 回饋到下一輪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Memory-bound → 受限於 KV Cache 讀取速度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474720" cy="640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BF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6BFF6B"/>
                </a:solidFill>
              </a:defRPr>
            </a:pPr>
            <a:r>
              <a:t>KV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031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Prefix matching → 最大化 cache 復用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Slot 管理 + Cache Forking → 多用戶支援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Context 溢出 → 智慧裁剪 (ShiftCacheSlot)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10972800" cy="1097280"/>
          </a:xfrm>
          <a:prstGeom prst="roundRect">
            <a:avLst/>
          </a:prstGeom>
          <a:solidFill>
            <a:srgbClr val="2A2A40"/>
          </a:solidFill>
          <a:ln w="25400">
            <a:solidFill>
              <a:srgbClr val="FFE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>
              <a:defRPr sz="1600" b="1">
                <a:solidFill>
                  <a:srgbClr val="FFE66D"/>
                </a:solidFill>
              </a:defRPr>
            </a:pPr>
            <a:r>
              <a:t>為什麼分離 Prefill / Decode？</a:t>
            </a:r>
            <a:br/>
            <a:r>
              <a:t>Prefill 是 compute-bound（可平行化，榨乾 GPU）；Decode 是 memory-bound（瓶頸在 KV Cache I/O）</a:t>
            </a:r>
            <a:br/>
            <a:r>
              <a:t>分開處理讓兩個階段各自用最適合的 batching 策略，最大化硬體利用率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